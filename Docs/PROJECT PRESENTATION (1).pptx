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2" r:id="rId7"/>
    <p:sldId id="261" r:id="rId8"/>
    <p:sldId id="263" r:id="rId9"/>
    <p:sldId id="277"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5" d="100"/>
          <a:sy n="105" d="100"/>
        </p:scale>
        <p:origin x="82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D9162-5B85-4E76-B5D1-D746F1D59CD8}"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B279C2-D0EB-476E-9979-B9DFD2D61D96}"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B279C2-D0EB-476E-9979-B9DFD2D61D96}"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B279C2-D0EB-476E-9979-B9DFD2D61D96}"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987D026B-87B8-4F7F-825E-53BE2D79F29E}"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922BE559-8554-4EA5-8723-B621CE1D87B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22BE559-8554-4EA5-8723-B621CE1D87B5}"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2BE559-8554-4EA5-8723-B621CE1D87B5}"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2BE559-8554-4EA5-8723-B621CE1D87B5}"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22BE559-8554-4EA5-8723-B621CE1D87B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22BE559-8554-4EA5-8723-B621CE1D87B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22BE559-8554-4EA5-8723-B621CE1D87B5}"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922BE559-8554-4EA5-8723-B621CE1D87B5}"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87D026B-87B8-4F7F-825E-53BE2D79F29E}"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2BE559-8554-4EA5-8723-B621CE1D87B5}" type="datetimeFigureOut">
              <a:rPr lang="en-IN" smtClean="0"/>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87D026B-87B8-4F7F-825E-53BE2D79F29E}"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2"/>
          <p:cNvSpPr>
            <a:spLocks noGrp="1"/>
          </p:cNvSpPr>
          <p:nvPr>
            <p:ph type="ctrTitle"/>
          </p:nvPr>
        </p:nvSpPr>
        <p:spPr>
          <a:xfrm>
            <a:off x="3416808" y="2022157"/>
            <a:ext cx="7370826" cy="1198419"/>
          </a:xfrm>
        </p:spPr>
        <p:txBody>
          <a:bodyPr>
            <a:normAutofit/>
          </a:bodyPr>
          <a:lstStyle/>
          <a:p>
            <a:pPr algn="ctr">
              <a:lnSpc>
                <a:spcPct val="100000"/>
              </a:lnSpc>
            </a:pPr>
            <a:r>
              <a:rPr lang="en-US" sz="2000" b="1" dirty="0">
                <a:latin typeface="Times New Roman" panose="02020603050405020304" pitchFamily="18" charset="0"/>
                <a:ea typeface="Times New Roman" panose="02020603050405020304" pitchFamily="18" charset="0"/>
              </a:rPr>
              <a:t>PROJECT PRESENTATION</a:t>
            </a:r>
            <a:br>
              <a:rPr lang="en-US" sz="2000" dirty="0">
                <a:latin typeface="Times New Roman" panose="02020603050405020304" pitchFamily="18" charset="0"/>
                <a:ea typeface="Times New Roman" panose="02020603050405020304" pitchFamily="18" charset="0"/>
              </a:rPr>
            </a:br>
            <a:r>
              <a:rPr lang="en-US" sz="2000" dirty="0">
                <a:latin typeface="Times New Roman" panose="02020603050405020304" pitchFamily="18" charset="0"/>
                <a:ea typeface="Times New Roman" panose="02020603050405020304" pitchFamily="18" charset="0"/>
              </a:rPr>
              <a:t>on</a:t>
            </a:r>
            <a:br>
              <a:rPr lang="en-US" sz="2000" b="1" dirty="0">
                <a:effectLst/>
                <a:latin typeface="Times New Roman" panose="02020603050405020304" pitchFamily="18" charset="0"/>
                <a:ea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Examination Duty Allotment and Management System</a:t>
            </a:r>
            <a:endParaRPr lang="en-US" sz="24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3901948" y="182909"/>
            <a:ext cx="5931408" cy="1332481"/>
          </a:xfrm>
          <a:prstGeom prst="rect">
            <a:avLst/>
          </a:prstGeom>
          <a:noFill/>
        </p:spPr>
        <p:txBody>
          <a:bodyPr wrap="square" rtlCol="0">
            <a:spAutoFit/>
          </a:bodyPr>
          <a:lstStyle/>
          <a:p>
            <a:pPr marL="635" indent="-1905" algn="ctr">
              <a:lnSpc>
                <a:spcPct val="115000"/>
              </a:lnSpc>
            </a:pPr>
            <a:r>
              <a:rPr lang="en-IN" sz="2400" dirty="0"/>
              <a:t>  </a:t>
            </a:r>
            <a:r>
              <a:rPr lang="en-US" sz="2400" b="1" dirty="0">
                <a:effectLst/>
                <a:latin typeface="Times New Roman" panose="02020603050405020304" pitchFamily="18" charset="0"/>
                <a:ea typeface="Arial" panose="02080604020202020204" pitchFamily="34" charset="0"/>
                <a:cs typeface="Times New Roman" panose="02020603050405020304" pitchFamily="18" charset="0"/>
              </a:rPr>
              <a:t>Department Of Computer Applications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270" indent="-2540" algn="ctr">
              <a:lnSpc>
                <a:spcPct val="115000"/>
              </a:lnSpc>
            </a:pPr>
            <a:r>
              <a:rPr lang="en-US" sz="2400" b="1" dirty="0">
                <a:effectLst/>
                <a:latin typeface="Times New Roman" panose="02020603050405020304" pitchFamily="18" charset="0"/>
                <a:ea typeface="Arial" panose="02080604020202020204" pitchFamily="34" charset="0"/>
                <a:cs typeface="Times New Roman" panose="02020603050405020304" pitchFamily="18" charset="0"/>
              </a:rPr>
              <a:t>St Joseph Engineering College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35" indent="-1905" algn="ctr">
              <a:lnSpc>
                <a:spcPct val="115000"/>
              </a:lnSpc>
            </a:pPr>
            <a:r>
              <a:rPr lang="en-US" sz="2400" b="1" dirty="0">
                <a:effectLst/>
                <a:latin typeface="Times New Roman" panose="02020603050405020304" pitchFamily="18" charset="0"/>
                <a:ea typeface="Arial" panose="02080604020202020204" pitchFamily="34" charset="0"/>
                <a:cs typeface="Times New Roman" panose="02020603050405020304" pitchFamily="18" charset="0"/>
              </a:rPr>
              <a:t>Mangalore - 575028</a:t>
            </a:r>
            <a:r>
              <a:rPr lang="en-IN" b="1" dirty="0"/>
              <a:t>                                                      </a:t>
            </a:r>
            <a:endParaRPr lang="en-IN" b="1" dirty="0"/>
          </a:p>
        </p:txBody>
      </p:sp>
      <p:sp>
        <p:nvSpPr>
          <p:cNvPr id="7" name="TextBox 6"/>
          <p:cNvSpPr txBox="1"/>
          <p:nvPr/>
        </p:nvSpPr>
        <p:spPr>
          <a:xfrm>
            <a:off x="9603615" y="5535110"/>
            <a:ext cx="3006090" cy="922020"/>
          </a:xfrm>
          <a:prstGeom prst="rect">
            <a:avLst/>
          </a:prstGeom>
          <a:noFill/>
        </p:spPr>
        <p:txBody>
          <a:bodyPr wrap="square" rtlCol="0">
            <a:spAutoFit/>
          </a:bodyPr>
          <a:lstStyle/>
          <a:p>
            <a:r>
              <a:rPr lang="en-US" altLang="en-IN" b="1" dirty="0">
                <a:latin typeface="Times New Roman" panose="02020603050405020304" pitchFamily="18" charset="0"/>
                <a:cs typeface="Times New Roman" panose="02020603050405020304" pitchFamily="18" charset="0"/>
              </a:rPr>
              <a:t>Praneeth Kumar</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4SO23MC0</a:t>
            </a:r>
            <a:r>
              <a:rPr lang="en-US" altLang="en-IN" b="1" dirty="0">
                <a:latin typeface="Times New Roman" panose="02020603050405020304" pitchFamily="18" charset="0"/>
                <a:cs typeface="Times New Roman" panose="02020603050405020304" pitchFamily="18" charset="0"/>
              </a:rPr>
              <a:t>71</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MCA-B</a:t>
            </a:r>
            <a:endParaRPr lang="en-IN"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608963" y="3857659"/>
            <a:ext cx="5021943" cy="1476375"/>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Internal</a:t>
            </a: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 Ms Nishmitha J</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Assistant Professor</a:t>
            </a:r>
            <a:endParaRPr lang="en-US"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Department of Computer Application SJEC</a:t>
            </a:r>
            <a:endParaRPr lang="en-IN"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10640200" y="182331"/>
            <a:ext cx="1316021" cy="1198418"/>
          </a:xfrm>
          <a:prstGeom prst="rect">
            <a:avLst/>
          </a:prstGeom>
          <a:blipFill>
            <a:blip r:embed="rId2"/>
            <a:tile tx="0" ty="0" sx="100000" sy="100000" flip="none" algn="tl"/>
          </a:blipFill>
        </p:spPr>
      </p:pic>
      <p:sp>
        <p:nvSpPr>
          <p:cNvPr id="10" name="Slide Number Placeholder 6"/>
          <p:cNvSpPr txBox="1"/>
          <p:nvPr/>
        </p:nvSpPr>
        <p:spPr>
          <a:xfrm>
            <a:off x="11821715" y="6360601"/>
            <a:ext cx="533400" cy="600947"/>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dirty="0"/>
          </a:p>
        </p:txBody>
      </p:sp>
      <p:sp>
        <p:nvSpPr>
          <p:cNvPr id="11"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
        <p:nvSpPr>
          <p:cNvPr id="3" name="TextBox 2"/>
          <p:cNvSpPr txBox="1"/>
          <p:nvPr/>
        </p:nvSpPr>
        <p:spPr>
          <a:xfrm>
            <a:off x="6177028" y="3836704"/>
            <a:ext cx="6432804" cy="1200329"/>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External</a:t>
            </a:r>
            <a:endParaRPr lang="en-US" b="1"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 Priyadarshini P</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Assistant Professor</a:t>
            </a:r>
            <a:endParaRPr lang="en-US" b="1" dirty="0">
              <a:latin typeface="Times New Roman" panose="02020603050405020304" pitchFamily="18" charset="0"/>
              <a:cs typeface="Times New Roman" panose="02020603050405020304" pitchFamily="18" charset="0"/>
            </a:endParaRPr>
          </a:p>
          <a:p>
            <a:pPr algn="ctr"/>
            <a:r>
              <a:rPr lang="en-IN" b="1" dirty="0">
                <a:latin typeface="Times New Roman" panose="02020603050405020304" pitchFamily="18" charset="0"/>
                <a:cs typeface="Times New Roman" panose="02020603050405020304" pitchFamily="18" charset="0"/>
              </a:rPr>
              <a:t>Department of Computer Application SJEC</a:t>
            </a:r>
            <a:endParaRPr lang="en-IN"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370832" y="3220389"/>
            <a:ext cx="5462778"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Under the Guidance of    </a:t>
            </a:r>
            <a:endParaRPr lang="en-US"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795527"/>
          </a:xfrm>
        </p:spPr>
        <p:txBody>
          <a:bodyPr/>
          <a:lstStyle/>
          <a:p>
            <a:r>
              <a:rPr lang="en-IN" dirty="0">
                <a:latin typeface="Times New Roman" panose="02020603050405020304" pitchFamily="18" charset="0"/>
                <a:cs typeface="Times New Roman" panose="02020603050405020304" pitchFamily="18" charset="0"/>
              </a:rPr>
              <a:t>Company Profile</a:t>
            </a:r>
            <a:endParaRPr lang="en-IN"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139696" y="1582341"/>
            <a:ext cx="9436608" cy="3885551"/>
          </a:xfrm>
          <a:prstGeom prst="rect">
            <a:avLst/>
          </a:prstGeom>
          <a:noFill/>
        </p:spPr>
        <p:txBody>
          <a:bodyPr wrap="square">
            <a:spAutoFit/>
          </a:bodyPr>
          <a:lstStyle/>
          <a:p>
            <a:pPr>
              <a:lnSpc>
                <a:spcPct val="200000"/>
              </a:lnSpc>
              <a:buNone/>
            </a:pPr>
            <a:r>
              <a:rPr lang="en-US" dirty="0" err="1">
                <a:latin typeface="Times New Roman" panose="02020603050405020304" pitchFamily="18" charset="0"/>
                <a:cs typeface="Times New Roman" panose="02020603050405020304" pitchFamily="18" charset="0"/>
              </a:rPr>
              <a:t>Softionik</a:t>
            </a:r>
            <a:r>
              <a:rPr lang="en-US" dirty="0">
                <a:latin typeface="Times New Roman" panose="02020603050405020304" pitchFamily="18" charset="0"/>
                <a:cs typeface="Times New Roman" panose="02020603050405020304" pitchFamily="18" charset="0"/>
              </a:rPr>
              <a:t> is a leading IT and software solutions provider based in Mangalore, India. The company specializes in mobile app development, web solutions, cloud services, IT security, and custom software for various industries. With expertise in modern technologies like Node.js, Angular, Python, Java, and IoT, </a:t>
            </a:r>
            <a:r>
              <a:rPr lang="en-US" dirty="0" err="1">
                <a:latin typeface="Times New Roman" panose="02020603050405020304" pitchFamily="18" charset="0"/>
                <a:cs typeface="Times New Roman" panose="02020603050405020304" pitchFamily="18" charset="0"/>
              </a:rPr>
              <a:t>Softionik</a:t>
            </a:r>
            <a:r>
              <a:rPr lang="en-US" dirty="0">
                <a:latin typeface="Times New Roman" panose="02020603050405020304" pitchFamily="18" charset="0"/>
                <a:cs typeface="Times New Roman" panose="02020603050405020304" pitchFamily="18" charset="0"/>
              </a:rPr>
              <a:t> has successfully delivered over 120 projects in its 7+ years of operation. Known for its innovation, quality service, and timely delivery, the company focuses on empowering businesses with reliable technology solutions. Located at Dwaraka Complex, </a:t>
            </a:r>
            <a:r>
              <a:rPr lang="en-US" dirty="0" err="1">
                <a:latin typeface="Times New Roman" panose="02020603050405020304" pitchFamily="18" charset="0"/>
                <a:cs typeface="Times New Roman" panose="02020603050405020304" pitchFamily="18" charset="0"/>
              </a:rPr>
              <a:t>Balmatta</a:t>
            </a:r>
            <a:r>
              <a:rPr lang="en-US" dirty="0">
                <a:latin typeface="Times New Roman" panose="02020603050405020304" pitchFamily="18" charset="0"/>
                <a:cs typeface="Times New Roman" panose="02020603050405020304" pitchFamily="18" charset="0"/>
              </a:rPr>
              <a:t>, Mangalore, </a:t>
            </a:r>
            <a:r>
              <a:rPr lang="en-US" dirty="0" err="1">
                <a:latin typeface="Times New Roman" panose="02020603050405020304" pitchFamily="18" charset="0"/>
                <a:cs typeface="Times New Roman" panose="02020603050405020304" pitchFamily="18" charset="0"/>
              </a:rPr>
              <a:t>Softionik</a:t>
            </a:r>
            <a:r>
              <a:rPr lang="en-US" dirty="0">
                <a:latin typeface="Times New Roman" panose="02020603050405020304" pitchFamily="18" charset="0"/>
                <a:cs typeface="Times New Roman" panose="02020603050405020304" pitchFamily="18" charset="0"/>
              </a:rPr>
              <a:t> is dedicated to serving clients with professionalism and excellence.</a:t>
            </a:r>
            <a:endParaRPr lang="en-IN" dirty="0">
              <a:latin typeface="Times New Roman" panose="02020603050405020304" pitchFamily="18" charset="0"/>
              <a:cs typeface="Times New Roman" panose="02020603050405020304" pitchFamily="18" charset="0"/>
            </a:endParaRPr>
          </a:p>
        </p:txBody>
      </p:sp>
      <p:sp>
        <p:nvSpPr>
          <p:cNvPr id="7"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484311" y="685801"/>
            <a:ext cx="10018713" cy="795527"/>
          </a:xfrm>
          <a:prstGeom prst="rect">
            <a:avLst/>
          </a:prstGeom>
        </p:spPr>
        <p:txBody>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latin typeface="Times New Roman" panose="02020603050405020304" pitchFamily="18" charset="0"/>
                <a:cs typeface="Times New Roman" panose="02020603050405020304" pitchFamily="18" charset="0"/>
              </a:rPr>
              <a:t>Introduction</a:t>
            </a:r>
            <a:endParaRPr lang="en-IN" sz="32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693067" y="1348453"/>
            <a:ext cx="9601200" cy="4922951"/>
          </a:xfrm>
          <a:prstGeom prst="rect">
            <a:avLst/>
          </a:prstGeom>
          <a:noFill/>
        </p:spPr>
        <p:txBody>
          <a:bodyPr wrap="square">
            <a:spAutoFit/>
          </a:bodyPr>
          <a:lstStyle/>
          <a:p>
            <a:pPr algn="just">
              <a:lnSpc>
                <a:spcPct val="200000"/>
              </a:lnSpc>
            </a:pPr>
            <a:r>
              <a:rPr lang="en-US" sz="2000" dirty="0">
                <a:latin typeface="Times New Roman" panose="02020603050405020304" pitchFamily="18" charset="0"/>
                <a:cs typeface="Times New Roman" panose="02020603050405020304" pitchFamily="18" charset="0"/>
              </a:rPr>
              <a:t>The Examination Duty Allotment System is a web-based platform designed to streamline and automate the process of assigning examination duties to faculty members in educational institutions. The system enables administrators to efficiently create exams, manage exam dates, and allocate or allow faculty to select their preferred duty slots. With secure authentication, role-based access, and automated notifications, the platform reduces manual workload, minimizes scheduling conflicts, and ensures transparency in duty assignments. The system also provides comprehensive reporting and history tracking for both administrators and faculty.</a:t>
            </a:r>
            <a:endParaRPr lang="en-US" sz="2000" dirty="0">
              <a:latin typeface="Times New Roman" panose="02020603050405020304" pitchFamily="18" charset="0"/>
              <a:cs typeface="Times New Roman" panose="02020603050405020304" pitchFamily="18" charset="0"/>
            </a:endParaRPr>
          </a:p>
        </p:txBody>
      </p:sp>
      <p:sp>
        <p:nvSpPr>
          <p:cNvPr id="3"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335" y="0"/>
            <a:ext cx="10018713" cy="777240"/>
          </a:xfrm>
        </p:spPr>
        <p:txBody>
          <a:bodyPr>
            <a:normAutofit/>
          </a:bodyPr>
          <a:lstStyle/>
          <a:p>
            <a:r>
              <a:rPr lang="en-US" sz="3200" b="1" dirty="0">
                <a:latin typeface="Times New Roman" panose="02020603050405020304" pitchFamily="18" charset="0"/>
                <a:cs typeface="Times New Roman" panose="02020603050405020304" pitchFamily="18" charset="0"/>
              </a:rPr>
              <a:t>Introduction to SRS &amp; Project Scope</a:t>
            </a:r>
            <a:endParaRPr lang="en-IN" sz="3200" dirty="0"/>
          </a:p>
        </p:txBody>
      </p:sp>
      <p:sp>
        <p:nvSpPr>
          <p:cNvPr id="3" name="Text Placeholder 2"/>
          <p:cNvSpPr>
            <a:spLocks noGrp="1"/>
          </p:cNvSpPr>
          <p:nvPr>
            <p:ph type="body" idx="1"/>
          </p:nvPr>
        </p:nvSpPr>
        <p:spPr>
          <a:xfrm>
            <a:off x="1676335" y="665323"/>
            <a:ext cx="4607188" cy="576262"/>
          </a:xfrm>
        </p:spPr>
        <p:txBody>
          <a:bodyPr/>
          <a:lstStyle/>
          <a:p>
            <a:pPr algn="ctr"/>
            <a:r>
              <a:rPr lang="en-US" sz="2000" b="1" dirty="0">
                <a:solidFill>
                  <a:schemeClr val="tx1"/>
                </a:solidFill>
                <a:latin typeface="Times New Roman" panose="02020603050405020304" pitchFamily="18" charset="0"/>
                <a:cs typeface="Times New Roman" panose="02020603050405020304" pitchFamily="18" charset="0"/>
              </a:rPr>
              <a:t>Purpose</a:t>
            </a:r>
            <a:endParaRPr lang="en-IN" sz="2000" dirty="0">
              <a:solidFill>
                <a:schemeClr val="tx1"/>
              </a:solidFill>
            </a:endParaRPr>
          </a:p>
        </p:txBody>
      </p:sp>
      <p:sp>
        <p:nvSpPr>
          <p:cNvPr id="4" name="Content Placeholder 3"/>
          <p:cNvSpPr>
            <a:spLocks noGrp="1"/>
          </p:cNvSpPr>
          <p:nvPr>
            <p:ph sz="half" idx="2"/>
          </p:nvPr>
        </p:nvSpPr>
        <p:spPr>
          <a:xfrm>
            <a:off x="1521765" y="1442563"/>
            <a:ext cx="4916327" cy="2455862"/>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primary purpose of the Examination Duty Allotment System is to streamline and automate the assignment of examination duties to faculty members in educational institutions. Traditionally, this process is manual, time-consuming, and prone to errors or conflicts. By digitizing the process.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Reduce administrative workload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Ensure fairness and transparency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Allow faculty members to indicate their availability and preferences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Provide timely notifications and reminders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Maintain a historical record</a:t>
            </a:r>
            <a:endParaRPr lang="en-IN" dirty="0">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sz="quarter" idx="3"/>
          </p:nvPr>
        </p:nvSpPr>
        <p:spPr>
          <a:xfrm>
            <a:off x="6880485" y="777240"/>
            <a:ext cx="4622537" cy="576262"/>
          </a:xfrm>
        </p:spPr>
        <p:txBody>
          <a:bodyPr/>
          <a:lstStyle/>
          <a:p>
            <a:r>
              <a:rPr lang="en-US" sz="2000" b="1" dirty="0">
                <a:solidFill>
                  <a:schemeClr val="tx1"/>
                </a:solidFill>
                <a:latin typeface="Times New Roman" panose="02020603050405020304" pitchFamily="18" charset="0"/>
                <a:cs typeface="Times New Roman" panose="02020603050405020304" pitchFamily="18" charset="0"/>
              </a:rPr>
              <a:t>Scope</a:t>
            </a:r>
            <a:endParaRPr lang="en-IN" sz="2000" dirty="0">
              <a:solidFill>
                <a:schemeClr val="tx1"/>
              </a:solidFill>
            </a:endParaRPr>
          </a:p>
        </p:txBody>
      </p:sp>
      <p:sp>
        <p:nvSpPr>
          <p:cNvPr id="6" name="Content Placeholder 5"/>
          <p:cNvSpPr>
            <a:spLocks noGrp="1"/>
          </p:cNvSpPr>
          <p:nvPr>
            <p:ph sz="quarter" idx="4"/>
          </p:nvPr>
        </p:nvSpPr>
        <p:spPr>
          <a:xfrm>
            <a:off x="6685691" y="1442563"/>
            <a:ext cx="4895056" cy="2455862"/>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The Examination Duty Allotment System enables secure login for admins and faculty, provides role-based dashboards, and streamlines the creation and management of exams and duty assignments. Admins can assign duties or allow faculty to select slots, while faculty can view and choose their preferred exam duties. The system automates notifications, supports reporting, and ensures a user-friendly, responsive experience for efficient and transparent exam duty management.</a:t>
            </a:r>
            <a:endParaRPr lang="en-IN" dirty="0">
              <a:latin typeface="Times New Roman" panose="02020603050405020304" pitchFamily="18" charset="0"/>
              <a:cs typeface="Times New Roman" panose="02020603050405020304" pitchFamily="18" charset="0"/>
            </a:endParaRPr>
          </a:p>
        </p:txBody>
      </p:sp>
      <p:sp>
        <p:nvSpPr>
          <p:cNvPr id="7"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92808" y="479935"/>
            <a:ext cx="8833104"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Functional Requirements</a:t>
            </a:r>
            <a:endParaRPr lang="en-IN" sz="32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2139696" y="1197864"/>
            <a:ext cx="8165592" cy="5068054"/>
          </a:xfrm>
          <a:prstGeom prst="rect">
            <a:avLst/>
          </a:prstGeom>
          <a:noFill/>
        </p:spPr>
        <p:txBody>
          <a:bodyPr wrap="square">
            <a:spAutoFit/>
          </a:bodyPr>
          <a:lstStyle/>
          <a:p>
            <a:pPr algn="just">
              <a:spcBef>
                <a:spcPts val="150"/>
              </a:spcBef>
              <a:spcAft>
                <a:spcPts val="150"/>
              </a:spcAft>
            </a:pPr>
            <a:r>
              <a:rPr lang="en-US" sz="2000" b="1" i="0" dirty="0">
                <a:effectLst/>
                <a:latin typeface="Times New Roman" panose="02020603050405020304" pitchFamily="18" charset="0"/>
                <a:cs typeface="Times New Roman" panose="02020603050405020304" pitchFamily="18" charset="0"/>
              </a:rPr>
              <a:t>User Authentication:</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Secure login for Admin and Faculty.</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Password reset via email.</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1" i="0" dirty="0">
                <a:effectLst/>
                <a:latin typeface="Times New Roman" panose="02020603050405020304" pitchFamily="18" charset="0"/>
                <a:cs typeface="Times New Roman" panose="02020603050405020304" pitchFamily="18" charset="0"/>
              </a:rPr>
              <a:t>Admin Features: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Create and manage exams and exam dates.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Add, update, and delete faculty records.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Assign duties manually or allow faculty to select slots.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Generate and download duty reports.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1" i="0" dirty="0">
                <a:effectLst/>
                <a:latin typeface="Times New Roman" panose="02020603050405020304" pitchFamily="18" charset="0"/>
                <a:cs typeface="Times New Roman" panose="02020603050405020304" pitchFamily="18" charset="0"/>
              </a:rPr>
              <a:t>Faculty Features: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View available exam dates and slots.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Select preferred duty slots.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View assigned duties and history.</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1" i="0" dirty="0">
                <a:effectLst/>
                <a:latin typeface="Times New Roman" panose="02020603050405020304" pitchFamily="18" charset="0"/>
                <a:cs typeface="Times New Roman" panose="02020603050405020304" pitchFamily="18" charset="0"/>
              </a:rPr>
              <a:t>Notifications:</a:t>
            </a:r>
            <a:endParaRPr lang="en-US" sz="2000" b="0" i="0"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sz="2000" b="0" i="0" dirty="0">
                <a:effectLst/>
                <a:latin typeface="Times New Roman" panose="02020603050405020304" pitchFamily="18" charset="0"/>
                <a:cs typeface="Times New Roman" panose="02020603050405020304" pitchFamily="18" charset="0"/>
              </a:rPr>
              <a:t>	Email reminders for duty selection and assignments.</a:t>
            </a:r>
            <a:endParaRPr lang="en-US" sz="2000" b="0" i="0" dirty="0">
              <a:effectLst/>
              <a:latin typeface="Times New Roman" panose="02020603050405020304" pitchFamily="18" charset="0"/>
              <a:cs typeface="Times New Roman" panose="02020603050405020304" pitchFamily="18" charset="0"/>
            </a:endParaRPr>
          </a:p>
        </p:txBody>
      </p:sp>
      <p:sp>
        <p:nvSpPr>
          <p:cNvPr id="2" name="Slide Number Placeholder 2"/>
          <p:cNvSpPr txBox="1"/>
          <p:nvPr/>
        </p:nvSpPr>
        <p:spPr>
          <a:xfrm>
            <a:off x="11801566" y="6424918"/>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904363" y="910138"/>
            <a:ext cx="7111746" cy="4965462"/>
          </a:xfrm>
          <a:prstGeom prst="rect">
            <a:avLst/>
          </a:prstGeom>
          <a:noFill/>
        </p:spPr>
        <p:txBody>
          <a:bodyPr wrap="square">
            <a:spAutoFit/>
          </a:bodyPr>
          <a:lstStyle/>
          <a:p>
            <a:pPr>
              <a:spcBef>
                <a:spcPts val="150"/>
              </a:spcBef>
              <a:spcAft>
                <a:spcPts val="150"/>
              </a:spcAft>
            </a:pPr>
            <a:r>
              <a:rPr lang="en-US" b="1" dirty="0">
                <a:effectLst/>
                <a:latin typeface="Times New Roman" panose="02020603050405020304" pitchFamily="18" charset="0"/>
                <a:cs typeface="Times New Roman" panose="02020603050405020304" pitchFamily="18" charset="0"/>
              </a:rPr>
              <a:t>Usability:</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Intuitive, responsive web interface (React + Tailwind CSS).</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b="1" dirty="0">
                <a:effectLst/>
                <a:latin typeface="Times New Roman" panose="02020603050405020304" pitchFamily="18" charset="0"/>
                <a:cs typeface="Times New Roman" panose="02020603050405020304" pitchFamily="18" charset="0"/>
              </a:rPr>
              <a:t>Performance:</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Fast response times for all user actions.</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b="1" dirty="0">
                <a:effectLst/>
                <a:latin typeface="Times New Roman" panose="02020603050405020304" pitchFamily="18" charset="0"/>
                <a:cs typeface="Times New Roman" panose="02020603050405020304" pitchFamily="18" charset="0"/>
              </a:rPr>
              <a:t>Security:</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Passwords stored securely (hashed).</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JWT-based authentication.</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b="1" dirty="0">
                <a:effectLst/>
                <a:latin typeface="Times New Roman" panose="02020603050405020304" pitchFamily="18" charset="0"/>
                <a:cs typeface="Times New Roman" panose="02020603050405020304" pitchFamily="18" charset="0"/>
              </a:rPr>
              <a:t>Reliability:</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Data consistency ensured via transactional operations.</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b="1" dirty="0">
                <a:effectLst/>
                <a:latin typeface="Times New Roman" panose="02020603050405020304" pitchFamily="18" charset="0"/>
                <a:cs typeface="Times New Roman" panose="02020603050405020304" pitchFamily="18" charset="0"/>
              </a:rPr>
              <a:t>Scalability:</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Designed to support multiple departments and large user bases.</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b="1" dirty="0">
                <a:effectLst/>
                <a:latin typeface="Times New Roman" panose="02020603050405020304" pitchFamily="18" charset="0"/>
                <a:cs typeface="Times New Roman" panose="02020603050405020304" pitchFamily="18" charset="0"/>
              </a:rPr>
              <a:t>Constraints:</a:t>
            </a:r>
            <a:endParaRPr lang="en-US" b="1"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b="1" dirty="0">
                <a:latin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cs typeface="Times New Roman" panose="02020603050405020304" pitchFamily="18" charset="0"/>
              </a:rPr>
              <a:t>Requires internet connectivity.</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Relies on institutional email for notifications.</a:t>
            </a:r>
            <a:endParaRPr lang="en-US" dirty="0">
              <a:effectLst/>
              <a:latin typeface="Times New Roman" panose="02020603050405020304" pitchFamily="18" charset="0"/>
              <a:cs typeface="Times New Roman" panose="02020603050405020304" pitchFamily="18" charset="0"/>
            </a:endParaRPr>
          </a:p>
          <a:p>
            <a:pPr>
              <a:spcBef>
                <a:spcPts val="150"/>
              </a:spcBef>
              <a:spcAft>
                <a:spcPts val="150"/>
              </a:spcAft>
            </a:pPr>
            <a:r>
              <a:rPr lang="en-US" dirty="0">
                <a:effectLst/>
                <a:latin typeface="Times New Roman" panose="02020603050405020304" pitchFamily="18" charset="0"/>
                <a:cs typeface="Times New Roman" panose="02020603050405020304" pitchFamily="18" charset="0"/>
              </a:rPr>
              <a:t>	Backend must be hosted with access to a MySQL database.</a:t>
            </a:r>
            <a:endParaRPr lang="en-US" dirty="0">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2029968" y="135374"/>
            <a:ext cx="8860536" cy="584775"/>
          </a:xfrm>
          <a:prstGeom prst="rect">
            <a:avLst/>
          </a:prstGeom>
          <a:noFill/>
        </p:spPr>
        <p:txBody>
          <a:bodyPr wrap="square">
            <a:spAutoFit/>
          </a:bodyPr>
          <a:lstStyle/>
          <a:p>
            <a:pPr algn="ctr">
              <a:spcBef>
                <a:spcPts val="1350"/>
              </a:spcBef>
              <a:spcAft>
                <a:spcPts val="600"/>
              </a:spcAft>
              <a:buNone/>
            </a:pPr>
            <a:r>
              <a:rPr lang="en-US" sz="3200" b="1" dirty="0">
                <a:effectLst/>
                <a:latin typeface="Times New Roman" panose="02020603050405020304" pitchFamily="18" charset="0"/>
                <a:cs typeface="Times New Roman" panose="02020603050405020304" pitchFamily="18" charset="0"/>
              </a:rPr>
              <a:t>Non-Functional Requirements &amp; Constraints </a:t>
            </a:r>
            <a:endParaRPr lang="en-US" sz="3200" b="1" dirty="0">
              <a:effectLst/>
              <a:latin typeface="Times New Roman" panose="02020603050405020304" pitchFamily="18" charset="0"/>
              <a:cs typeface="Times New Roman" panose="02020603050405020304" pitchFamily="18" charset="0"/>
            </a:endParaRPr>
          </a:p>
        </p:txBody>
      </p:sp>
      <p:sp>
        <p:nvSpPr>
          <p:cNvPr id="2"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29968" y="135374"/>
            <a:ext cx="8860536" cy="584775"/>
          </a:xfrm>
          <a:prstGeom prst="rect">
            <a:avLst/>
          </a:prstGeom>
          <a:noFill/>
        </p:spPr>
        <p:txBody>
          <a:bodyPr wrap="square">
            <a:spAutoFit/>
          </a:bodyPr>
          <a:lstStyle/>
          <a:p>
            <a:pPr algn="ctr">
              <a:spcBef>
                <a:spcPts val="1350"/>
              </a:spcBef>
              <a:spcAft>
                <a:spcPts val="600"/>
              </a:spcAft>
              <a:buNone/>
            </a:pPr>
            <a:r>
              <a:rPr lang="en-US" sz="3200" b="1" dirty="0">
                <a:effectLst/>
                <a:latin typeface="Times New Roman" panose="02020603050405020304" pitchFamily="18" charset="0"/>
                <a:cs typeface="Times New Roman" panose="02020603050405020304" pitchFamily="18" charset="0"/>
              </a:rPr>
              <a:t>Tools and Technology Used</a:t>
            </a:r>
            <a:endParaRPr lang="en-US" sz="3200" b="1" dirty="0">
              <a:effectLst/>
              <a:latin typeface="Times New Roman" panose="02020603050405020304" pitchFamily="18" charset="0"/>
              <a:cs typeface="Times New Roman" panose="02020603050405020304" pitchFamily="18" charset="0"/>
            </a:endParaRPr>
          </a:p>
        </p:txBody>
      </p:sp>
      <p:sp>
        <p:nvSpPr>
          <p:cNvPr id="4" name="TextBox 3"/>
          <p:cNvSpPr txBox="1"/>
          <p:nvPr/>
        </p:nvSpPr>
        <p:spPr>
          <a:xfrm>
            <a:off x="2304288" y="1197864"/>
            <a:ext cx="6837426" cy="4493294"/>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Frontend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React.js</a:t>
            </a:r>
            <a:r>
              <a:rPr lang="en-IN" dirty="0">
                <a:latin typeface="Times New Roman" panose="02020603050405020304" pitchFamily="18" charset="0"/>
                <a:cs typeface="Times New Roman" panose="02020603050405020304" pitchFamily="18" charset="0"/>
              </a:rPr>
              <a:t>: Builds dynamic, interactive UIs.</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Tailwind CSS</a:t>
            </a:r>
            <a:r>
              <a:rPr lang="en-IN" dirty="0">
                <a:latin typeface="Times New Roman" panose="02020603050405020304" pitchFamily="18" charset="0"/>
                <a:cs typeface="Times New Roman" panose="02020603050405020304" pitchFamily="18" charset="0"/>
              </a:rPr>
              <a:t>: Clean, responsive design with utility classes.</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Vite</a:t>
            </a:r>
            <a:r>
              <a:rPr lang="en-IN" dirty="0">
                <a:latin typeface="Times New Roman" panose="02020603050405020304" pitchFamily="18" charset="0"/>
                <a:cs typeface="Times New Roman" panose="02020603050405020304" pitchFamily="18" charset="0"/>
              </a:rPr>
              <a:t>: Lightning-fast builds &amp; dev server for React.</a:t>
            </a: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Backend</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Node.js</a:t>
            </a:r>
            <a:r>
              <a:rPr lang="en-IN" dirty="0">
                <a:latin typeface="Times New Roman" panose="02020603050405020304" pitchFamily="18" charset="0"/>
                <a:cs typeface="Times New Roman" panose="02020603050405020304" pitchFamily="18" charset="0"/>
              </a:rPr>
              <a:t>: Server-side JavaScript engine.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Express.js</a:t>
            </a:r>
            <a:r>
              <a:rPr lang="en-IN" dirty="0">
                <a:latin typeface="Times New Roman" panose="02020603050405020304" pitchFamily="18" charset="0"/>
                <a:cs typeface="Times New Roman" panose="02020603050405020304" pitchFamily="18" charset="0"/>
              </a:rPr>
              <a:t>: Handles routing &amp; API logic.</a:t>
            </a: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Database</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MySQL</a:t>
            </a:r>
            <a:r>
              <a:rPr lang="en-IN" dirty="0">
                <a:latin typeface="Times New Roman" panose="02020603050405020304" pitchFamily="18" charset="0"/>
                <a:cs typeface="Times New Roman" panose="02020603050405020304" pitchFamily="18" charset="0"/>
              </a:rPr>
              <a:t>: Manages structured data like users, exam schedules, and 	duty records.</a:t>
            </a: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AI Integration</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TinyLLaMA</a:t>
            </a:r>
            <a:r>
              <a:rPr lang="en-IN" b="1" dirty="0">
                <a:latin typeface="Times New Roman" panose="02020603050405020304" pitchFamily="18" charset="0"/>
                <a:cs typeface="Times New Roman" panose="02020603050405020304" pitchFamily="18" charset="0"/>
              </a:rPr>
              <a:t> Model</a:t>
            </a:r>
            <a:r>
              <a:rPr lang="en-IN" dirty="0">
                <a:latin typeface="Times New Roman" panose="02020603050405020304" pitchFamily="18" charset="0"/>
                <a:cs typeface="Times New Roman" panose="02020603050405020304" pitchFamily="18" charset="0"/>
              </a:rPr>
              <a:t>: Runs locally to generate official duty emails 	with privacy-focused AI.</a:t>
            </a: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Development &amp; Deployment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Postman</a:t>
            </a:r>
            <a:r>
              <a:rPr lang="en-IN" dirty="0">
                <a:latin typeface="Times New Roman" panose="02020603050405020304" pitchFamily="18" charset="0"/>
                <a:cs typeface="Times New Roman" panose="02020603050405020304" pitchFamily="18" charset="0"/>
              </a:rPr>
              <a:t>: API testing tool.</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Git &amp; GitHub</a:t>
            </a:r>
            <a:r>
              <a:rPr lang="en-IN" dirty="0">
                <a:latin typeface="Times New Roman" panose="02020603050405020304" pitchFamily="18" charset="0"/>
                <a:cs typeface="Times New Roman" panose="02020603050405020304" pitchFamily="18" charset="0"/>
              </a:rPr>
              <a:t>: Version control and collaboration.</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29968" y="135374"/>
            <a:ext cx="8860536" cy="584775"/>
          </a:xfrm>
          <a:prstGeom prst="rect">
            <a:avLst/>
          </a:prstGeom>
          <a:noFill/>
        </p:spPr>
        <p:txBody>
          <a:bodyPr wrap="square">
            <a:spAutoFit/>
          </a:bodyPr>
          <a:lstStyle/>
          <a:p>
            <a:pPr algn="ctr">
              <a:spcBef>
                <a:spcPts val="1350"/>
              </a:spcBef>
              <a:spcAft>
                <a:spcPts val="600"/>
              </a:spcAft>
              <a:buNone/>
            </a:pPr>
            <a:r>
              <a:rPr lang="en-US" sz="3200" b="1" dirty="0">
                <a:effectLst/>
                <a:latin typeface="Times New Roman" panose="02020603050405020304" pitchFamily="18" charset="0"/>
                <a:cs typeface="Times New Roman" panose="02020603050405020304" pitchFamily="18" charset="0"/>
              </a:rPr>
              <a:t>Data Flow Diagram </a:t>
            </a:r>
            <a:endParaRPr lang="en-US" sz="3200" b="1" dirty="0">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21114" y="995362"/>
            <a:ext cx="7534275" cy="4867275"/>
          </a:xfrm>
          <a:prstGeom prst="rect">
            <a:avLst/>
          </a:prstGeom>
        </p:spPr>
      </p:pic>
      <p:sp>
        <p:nvSpPr>
          <p:cNvPr id="3"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02153" y="804433"/>
            <a:ext cx="5888735" cy="5865651"/>
          </a:xfrm>
          <a:prstGeom prst="rect">
            <a:avLst/>
          </a:prstGeom>
        </p:spPr>
      </p:pic>
      <p:sp>
        <p:nvSpPr>
          <p:cNvPr id="4" name="TextBox 3"/>
          <p:cNvSpPr txBox="1"/>
          <p:nvPr/>
        </p:nvSpPr>
        <p:spPr>
          <a:xfrm>
            <a:off x="2029968" y="135374"/>
            <a:ext cx="8860536" cy="584775"/>
          </a:xfrm>
          <a:prstGeom prst="rect">
            <a:avLst/>
          </a:prstGeom>
          <a:noFill/>
        </p:spPr>
        <p:txBody>
          <a:bodyPr wrap="square">
            <a:spAutoFit/>
          </a:bodyPr>
          <a:lstStyle/>
          <a:p>
            <a:pPr algn="ctr">
              <a:spcBef>
                <a:spcPts val="1350"/>
              </a:spcBef>
              <a:spcAft>
                <a:spcPts val="600"/>
              </a:spcAft>
              <a:buNone/>
            </a:pPr>
            <a:r>
              <a:rPr lang="en-US" sz="3200" b="1" dirty="0">
                <a:effectLst/>
                <a:latin typeface="Times New Roman" panose="02020603050405020304" pitchFamily="18" charset="0"/>
                <a:cs typeface="Times New Roman" panose="02020603050405020304" pitchFamily="18" charset="0"/>
              </a:rPr>
              <a:t>Use Case Diagra</a:t>
            </a:r>
            <a:r>
              <a:rPr lang="en-US" sz="3200" b="1" dirty="0">
                <a:latin typeface="Times New Roman" panose="02020603050405020304" pitchFamily="18" charset="0"/>
                <a:cs typeface="Times New Roman" panose="02020603050405020304" pitchFamily="18" charset="0"/>
              </a:rPr>
              <a:t>m</a:t>
            </a:r>
            <a:endParaRPr lang="en-US" sz="3200" b="1" dirty="0">
              <a:effectLst/>
              <a:latin typeface="Times New Roman" panose="02020603050405020304" pitchFamily="18" charset="0"/>
              <a:cs typeface="Times New Roman" panose="02020603050405020304" pitchFamily="18" charset="0"/>
            </a:endParaRPr>
          </a:p>
        </p:txBody>
      </p:sp>
      <p:sp>
        <p:nvSpPr>
          <p:cNvPr id="2"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07208" y="787872"/>
            <a:ext cx="7012601" cy="5631603"/>
          </a:xfrm>
          <a:prstGeom prst="rect">
            <a:avLst/>
          </a:prstGeom>
        </p:spPr>
      </p:pic>
      <p:sp>
        <p:nvSpPr>
          <p:cNvPr id="4" name="TextBox 3"/>
          <p:cNvSpPr txBox="1"/>
          <p:nvPr/>
        </p:nvSpPr>
        <p:spPr>
          <a:xfrm>
            <a:off x="2029968" y="135374"/>
            <a:ext cx="8860536" cy="584775"/>
          </a:xfrm>
          <a:prstGeom prst="rect">
            <a:avLst/>
          </a:prstGeom>
          <a:noFill/>
        </p:spPr>
        <p:txBody>
          <a:bodyPr wrap="square">
            <a:spAutoFit/>
          </a:bodyPr>
          <a:lstStyle/>
          <a:p>
            <a:pPr algn="ctr">
              <a:spcBef>
                <a:spcPts val="1350"/>
              </a:spcBef>
              <a:spcAft>
                <a:spcPts val="600"/>
              </a:spcAft>
              <a:buNone/>
            </a:pPr>
            <a:r>
              <a:rPr lang="en-US" sz="3200" b="1">
                <a:latin typeface="Times New Roman" panose="02020603050405020304" pitchFamily="18" charset="0"/>
                <a:cs typeface="Times New Roman" panose="02020603050405020304" pitchFamily="18" charset="0"/>
              </a:rPr>
              <a:t>Sequence</a:t>
            </a:r>
            <a:r>
              <a:rPr lang="en-US" sz="3200" b="1">
                <a:effectLst/>
                <a:latin typeface="Times New Roman" panose="02020603050405020304" pitchFamily="18" charset="0"/>
                <a:cs typeface="Times New Roman" panose="02020603050405020304" pitchFamily="18" charset="0"/>
              </a:rPr>
              <a:t> </a:t>
            </a:r>
            <a:r>
              <a:rPr lang="en-US" sz="3200" b="1" dirty="0">
                <a:effectLst/>
                <a:latin typeface="Times New Roman" panose="02020603050405020304" pitchFamily="18" charset="0"/>
                <a:cs typeface="Times New Roman" panose="02020603050405020304" pitchFamily="18" charset="0"/>
              </a:rPr>
              <a:t>Diagra</a:t>
            </a:r>
            <a:r>
              <a:rPr lang="en-US" sz="3200" b="1" dirty="0">
                <a:latin typeface="Times New Roman" panose="02020603050405020304" pitchFamily="18" charset="0"/>
                <a:cs typeface="Times New Roman" panose="02020603050405020304" pitchFamily="18" charset="0"/>
              </a:rPr>
              <a:t>m</a:t>
            </a:r>
            <a:endParaRPr lang="en-US" sz="3200" b="1" dirty="0">
              <a:effectLst/>
              <a:latin typeface="Times New Roman" panose="02020603050405020304" pitchFamily="18" charset="0"/>
              <a:cs typeface="Times New Roman" panose="02020603050405020304" pitchFamily="18" charset="0"/>
            </a:endParaRPr>
          </a:p>
        </p:txBody>
      </p:sp>
      <p:sp>
        <p:nvSpPr>
          <p:cNvPr id="2"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29968" y="135374"/>
            <a:ext cx="8860536" cy="584775"/>
          </a:xfrm>
          <a:prstGeom prst="rect">
            <a:avLst/>
          </a:prstGeom>
          <a:noFill/>
        </p:spPr>
        <p:txBody>
          <a:bodyPr wrap="square">
            <a:spAutoFit/>
          </a:bodyPr>
          <a:lstStyle/>
          <a:p>
            <a:pPr algn="ctr">
              <a:spcBef>
                <a:spcPts val="1350"/>
              </a:spcBef>
              <a:spcAft>
                <a:spcPts val="600"/>
              </a:spcAft>
              <a:buNone/>
            </a:pPr>
            <a:r>
              <a:rPr lang="en-US" sz="3200" b="1" dirty="0">
                <a:latin typeface="Times New Roman" panose="02020603050405020304" pitchFamily="18" charset="0"/>
                <a:cs typeface="Times New Roman" panose="02020603050405020304" pitchFamily="18" charset="0"/>
              </a:rPr>
              <a:t>ER</a:t>
            </a:r>
            <a:r>
              <a:rPr lang="en-US" sz="3200" b="1" dirty="0">
                <a:effectLst/>
                <a:latin typeface="Times New Roman" panose="02020603050405020304" pitchFamily="18" charset="0"/>
                <a:cs typeface="Times New Roman" panose="02020603050405020304" pitchFamily="18" charset="0"/>
              </a:rPr>
              <a:t> Diagra</a:t>
            </a:r>
            <a:r>
              <a:rPr lang="en-US" sz="3200" b="1" dirty="0">
                <a:latin typeface="Times New Roman" panose="02020603050405020304" pitchFamily="18" charset="0"/>
                <a:cs typeface="Times New Roman" panose="02020603050405020304" pitchFamily="18" charset="0"/>
              </a:rPr>
              <a:t>m</a:t>
            </a:r>
            <a:endParaRPr lang="en-US" sz="3200" b="1" dirty="0">
              <a:effectLst/>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31720" y="720149"/>
            <a:ext cx="9120568" cy="5904697"/>
          </a:xfrm>
          <a:prstGeom prst="rect">
            <a:avLst/>
          </a:prstGeom>
        </p:spPr>
      </p:pic>
      <p:sp>
        <p:nvSpPr>
          <p:cNvPr id="6"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29968" y="135374"/>
            <a:ext cx="8860536"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Testing</a:t>
            </a:r>
            <a:endParaRPr lang="en-IN" sz="32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1682496" y="878473"/>
            <a:ext cx="9326880" cy="4483279"/>
          </a:xfrm>
          <a:prstGeom prst="rect">
            <a:avLst/>
          </a:prstGeom>
          <a:noFill/>
        </p:spPr>
        <p:txBody>
          <a:bodyPr wrap="square">
            <a:spAutoFit/>
          </a:bodyPr>
          <a:lstStyle/>
          <a:p>
            <a:pPr algn="just">
              <a:spcBef>
                <a:spcPts val="150"/>
              </a:spcBef>
              <a:spcAft>
                <a:spcPts val="150"/>
              </a:spcAft>
              <a:buFont typeface="Arial" panose="02080604020202020204" pitchFamily="34" charset="0"/>
              <a:buChar char="•"/>
            </a:pPr>
            <a:r>
              <a:rPr lang="en-US" b="1" dirty="0">
                <a:effectLst/>
                <a:latin typeface="Times New Roman" panose="02020603050405020304" pitchFamily="18" charset="0"/>
                <a:cs typeface="Times New Roman" panose="02020603050405020304" pitchFamily="18" charset="0"/>
              </a:rPr>
              <a:t>Unit Testing</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dirty="0">
                <a:effectLst/>
                <a:latin typeface="Times New Roman" panose="02020603050405020304" pitchFamily="18" charset="0"/>
                <a:cs typeface="Times New Roman" panose="02020603050405020304" pitchFamily="18" charset="0"/>
              </a:rPr>
              <a:t>Individual modules and functions (such as authentication, user management, and exam assignment logic) were tested in isolation to ensure each component works as intended. Example: Testing the login function to verify correct and incorrect credentials.</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buFont typeface="Arial" panose="02080604020202020204" pitchFamily="34" charset="0"/>
              <a:buChar char="•"/>
            </a:pPr>
            <a:r>
              <a:rPr lang="en-US" b="1" dirty="0">
                <a:effectLst/>
                <a:latin typeface="Times New Roman" panose="02020603050405020304" pitchFamily="18" charset="0"/>
                <a:cs typeface="Times New Roman" panose="02020603050405020304" pitchFamily="18" charset="0"/>
              </a:rPr>
              <a:t>Integration Testing</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dirty="0">
                <a:effectLst/>
                <a:latin typeface="Times New Roman" panose="02020603050405020304" pitchFamily="18" charset="0"/>
                <a:cs typeface="Times New Roman" panose="02020603050405020304" pitchFamily="18" charset="0"/>
              </a:rPr>
              <a:t>Multiple components were tested together to ensure they interact correctly. Example: Testing the full flow from user login, exam creation, to duty assignment and notification.</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b="1" dirty="0">
                <a:effectLst/>
                <a:latin typeface="Times New Roman" panose="02020603050405020304" pitchFamily="18" charset="0"/>
                <a:cs typeface="Times New Roman" panose="02020603050405020304" pitchFamily="18" charset="0"/>
              </a:rPr>
              <a:t>Test Coverage</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buFont typeface="Arial" panose="02080604020202020204" pitchFamily="34" charset="0"/>
              <a:buChar char="•"/>
            </a:pPr>
            <a:r>
              <a:rPr lang="en-US" dirty="0">
                <a:effectLst/>
                <a:latin typeface="Times New Roman" panose="02020603050405020304" pitchFamily="18" charset="0"/>
                <a:cs typeface="Times New Roman" panose="02020603050405020304" pitchFamily="18" charset="0"/>
              </a:rPr>
              <a:t>Authentication and authorization logic</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buFont typeface="Arial" panose="02080604020202020204" pitchFamily="34" charset="0"/>
              <a:buChar char="•"/>
            </a:pPr>
            <a:r>
              <a:rPr lang="en-US" dirty="0">
                <a:effectLst/>
                <a:latin typeface="Times New Roman" panose="02020603050405020304" pitchFamily="18" charset="0"/>
                <a:cs typeface="Times New Roman" panose="02020603050405020304" pitchFamily="18" charset="0"/>
              </a:rPr>
              <a:t>Exam and duty management workflows</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buFont typeface="Arial" panose="02080604020202020204" pitchFamily="34" charset="0"/>
              <a:buChar char="•"/>
            </a:pPr>
            <a:r>
              <a:rPr lang="en-US" dirty="0">
                <a:effectLst/>
                <a:latin typeface="Times New Roman" panose="02020603050405020304" pitchFamily="18" charset="0"/>
                <a:cs typeface="Times New Roman" panose="02020603050405020304" pitchFamily="18" charset="0"/>
              </a:rPr>
              <a:t>Database operations and data consistency</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buFont typeface="Arial" panose="02080604020202020204" pitchFamily="34" charset="0"/>
              <a:buChar char="•"/>
            </a:pPr>
            <a:r>
              <a:rPr lang="en-US" dirty="0">
                <a:effectLst/>
                <a:latin typeface="Times New Roman" panose="02020603050405020304" pitchFamily="18" charset="0"/>
                <a:cs typeface="Times New Roman" panose="02020603050405020304" pitchFamily="18" charset="0"/>
              </a:rPr>
              <a:t>Email notification triggers</a:t>
            </a:r>
            <a:endParaRPr lang="en-US" dirty="0">
              <a:effectLst/>
              <a:latin typeface="Times New Roman" panose="02020603050405020304" pitchFamily="18" charset="0"/>
              <a:cs typeface="Times New Roman" panose="02020603050405020304" pitchFamily="18" charset="0"/>
            </a:endParaRPr>
          </a:p>
        </p:txBody>
      </p:sp>
      <p:sp>
        <p:nvSpPr>
          <p:cNvPr id="6"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762" y="0"/>
            <a:ext cx="6094476" cy="584775"/>
          </a:xfrm>
          <a:prstGeom prst="rect">
            <a:avLst/>
          </a:prstGeom>
          <a:noFill/>
        </p:spPr>
        <p:txBody>
          <a:bodyPr wrap="square">
            <a:spAutoFit/>
          </a:bodyPr>
          <a:lstStyle/>
          <a:p>
            <a:pPr algn="ctr">
              <a:spcBef>
                <a:spcPts val="1350"/>
              </a:spcBef>
              <a:spcAft>
                <a:spcPts val="600"/>
              </a:spcAft>
              <a:buNone/>
            </a:pPr>
            <a:r>
              <a:rPr lang="en-IN" sz="3200" b="1" i="0" dirty="0">
                <a:effectLst/>
                <a:latin typeface="Times New Roman" panose="02020603050405020304" pitchFamily="18" charset="0"/>
                <a:cs typeface="Times New Roman" panose="02020603050405020304" pitchFamily="18" charset="0"/>
              </a:rPr>
              <a:t>Implementation</a:t>
            </a:r>
            <a:endParaRPr lang="en-IN" sz="3200" b="1" i="0" dirty="0">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2121408" y="865308"/>
            <a:ext cx="9765792" cy="5062924"/>
          </a:xfrm>
          <a:prstGeom prst="rect">
            <a:avLst/>
          </a:prstGeom>
          <a:noFill/>
        </p:spPr>
        <p:txBody>
          <a:bodyPr wrap="square">
            <a:spAutoFit/>
          </a:bodyPr>
          <a:lstStyle/>
          <a:p>
            <a:pPr algn="just">
              <a:spcBef>
                <a:spcPts val="150"/>
              </a:spcBef>
              <a:spcAft>
                <a:spcPts val="150"/>
              </a:spcAft>
            </a:pPr>
            <a:r>
              <a:rPr lang="en-US" b="1" dirty="0">
                <a:effectLst/>
                <a:latin typeface="Times New Roman" panose="02020603050405020304" pitchFamily="18" charset="0"/>
                <a:cs typeface="Times New Roman" panose="02020603050405020304" pitchFamily="18" charset="0"/>
              </a:rPr>
              <a:t>Role-Based Access Control</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dirty="0">
                <a:effectLst/>
                <a:latin typeface="Times New Roman" panose="02020603050405020304" pitchFamily="18" charset="0"/>
                <a:cs typeface="Times New Roman" panose="02020603050405020304" pitchFamily="18" charset="0"/>
              </a:rPr>
              <a:t>	Users are assigned roles (admin/faculty) and can only access features relevant to their role, 	ensuring security and data privacy.</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b="1" dirty="0">
                <a:effectLst/>
                <a:latin typeface="Times New Roman" panose="02020603050405020304" pitchFamily="18" charset="0"/>
                <a:cs typeface="Times New Roman" panose="02020603050405020304" pitchFamily="18" charset="0"/>
              </a:rPr>
              <a:t>Duty Assignment Logic</a:t>
            </a:r>
            <a:endParaRPr lang="en-US" dirty="0">
              <a:effectLst/>
              <a:latin typeface="Times New Roman" panose="02020603050405020304" pitchFamily="18" charset="0"/>
              <a:cs typeface="Times New Roman" panose="02020603050405020304" pitchFamily="18" charset="0"/>
            </a:endParaRPr>
          </a:p>
          <a:p>
            <a:pPr marL="285750" indent="-285750" algn="just">
              <a:spcBef>
                <a:spcPts val="150"/>
              </a:spcBef>
              <a:spcAft>
                <a:spcPts val="150"/>
              </a:spcAft>
              <a:buFont typeface="Arial" panose="02080604020202020204" pitchFamily="34" charset="0"/>
              <a:buChar char="•"/>
            </a:pPr>
            <a:r>
              <a:rPr lang="en-US" b="1" dirty="0">
                <a:effectLst/>
                <a:latin typeface="Times New Roman" panose="02020603050405020304" pitchFamily="18" charset="0"/>
                <a:cs typeface="Times New Roman" panose="02020603050405020304" pitchFamily="18" charset="0"/>
              </a:rPr>
              <a:t>Manual Assignment:</a:t>
            </a:r>
            <a:r>
              <a:rPr lang="en-US" dirty="0">
                <a:effectLst/>
                <a:latin typeface="Times New Roman" panose="02020603050405020304" pitchFamily="18" charset="0"/>
                <a:cs typeface="Times New Roman" panose="02020603050405020304" pitchFamily="18" charset="0"/>
              </a:rPr>
              <a:t> Admins can directly assign duties to faculty.</a:t>
            </a:r>
            <a:endParaRPr lang="en-US" dirty="0">
              <a:effectLst/>
              <a:latin typeface="Times New Roman" panose="02020603050405020304" pitchFamily="18" charset="0"/>
              <a:cs typeface="Times New Roman" panose="02020603050405020304" pitchFamily="18" charset="0"/>
            </a:endParaRPr>
          </a:p>
          <a:p>
            <a:pPr marL="285750" indent="-285750" algn="just">
              <a:spcBef>
                <a:spcPts val="150"/>
              </a:spcBef>
              <a:spcAft>
                <a:spcPts val="150"/>
              </a:spcAft>
              <a:buFont typeface="Arial" panose="02080604020202020204" pitchFamily="34" charset="0"/>
              <a:buChar char="•"/>
            </a:pPr>
            <a:r>
              <a:rPr lang="en-US" b="1" dirty="0">
                <a:effectLst/>
                <a:latin typeface="Times New Roman" panose="02020603050405020304" pitchFamily="18" charset="0"/>
                <a:cs typeface="Times New Roman" panose="02020603050405020304" pitchFamily="18" charset="0"/>
              </a:rPr>
              <a:t>Self-Selection:</a:t>
            </a:r>
            <a:r>
              <a:rPr lang="en-US" dirty="0">
                <a:effectLst/>
                <a:latin typeface="Times New Roman" panose="02020603050405020304" pitchFamily="18" charset="0"/>
                <a:cs typeface="Times New Roman" panose="02020603050405020304" pitchFamily="18" charset="0"/>
              </a:rPr>
              <a:t> Faculty can select available slots; the system checks for slot availability and prevents double-booking.</a:t>
            </a:r>
            <a:endParaRPr lang="en-US" dirty="0">
              <a:effectLst/>
              <a:latin typeface="Times New Roman" panose="02020603050405020304" pitchFamily="18" charset="0"/>
              <a:cs typeface="Times New Roman" panose="02020603050405020304" pitchFamily="18" charset="0"/>
            </a:endParaRPr>
          </a:p>
          <a:p>
            <a:pPr marL="285750" indent="-285750" algn="just">
              <a:spcBef>
                <a:spcPts val="150"/>
              </a:spcBef>
              <a:spcAft>
                <a:spcPts val="150"/>
              </a:spcAft>
              <a:buFont typeface="Arial" panose="02080604020202020204" pitchFamily="34" charset="0"/>
              <a:buChar char="•"/>
            </a:pPr>
            <a:r>
              <a:rPr lang="en-US" b="1" dirty="0">
                <a:effectLst/>
                <a:latin typeface="Times New Roman" panose="02020603050405020304" pitchFamily="18" charset="0"/>
                <a:cs typeface="Times New Roman" panose="02020603050405020304" pitchFamily="18" charset="0"/>
              </a:rPr>
              <a:t>Conflict Prevention:</a:t>
            </a:r>
            <a:r>
              <a:rPr lang="en-US" dirty="0">
                <a:effectLst/>
                <a:latin typeface="Times New Roman" panose="02020603050405020304" pitchFamily="18" charset="0"/>
                <a:cs typeface="Times New Roman" panose="02020603050405020304" pitchFamily="18" charset="0"/>
              </a:rPr>
              <a:t> The backend checks for duplicate or conflicting assignments before saving.</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b="1" dirty="0">
                <a:effectLst/>
                <a:latin typeface="Times New Roman" panose="02020603050405020304" pitchFamily="18" charset="0"/>
                <a:cs typeface="Times New Roman" panose="02020603050405020304" pitchFamily="18" charset="0"/>
              </a:rPr>
              <a:t>Email Notification System</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dirty="0">
                <a:effectLst/>
                <a:latin typeface="Times New Roman" panose="02020603050405020304" pitchFamily="18" charset="0"/>
                <a:cs typeface="Times New Roman" panose="02020603050405020304" pitchFamily="18" charset="0"/>
              </a:rPr>
              <a:t>	Automated emails are sent for password resets, duty assignments, and reminders using 	</a:t>
            </a:r>
            <a:r>
              <a:rPr lang="en-US" dirty="0" err="1">
                <a:effectLst/>
                <a:latin typeface="Times New Roman" panose="02020603050405020304" pitchFamily="18" charset="0"/>
                <a:cs typeface="Times New Roman" panose="02020603050405020304" pitchFamily="18" charset="0"/>
              </a:rPr>
              <a:t>Nodemailer</a:t>
            </a:r>
            <a:r>
              <a:rPr lang="en-US" dirty="0">
                <a:effectLst/>
                <a:latin typeface="Times New Roman" panose="02020603050405020304" pitchFamily="18" charset="0"/>
                <a:cs typeface="Times New Roman" panose="02020603050405020304" pitchFamily="18" charset="0"/>
              </a:rPr>
              <a:t>.</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b="1" dirty="0">
                <a:effectLst/>
                <a:latin typeface="Times New Roman" panose="02020603050405020304" pitchFamily="18" charset="0"/>
                <a:cs typeface="Times New Roman" panose="02020603050405020304" pitchFamily="18" charset="0"/>
              </a:rPr>
              <a:t>Database Transactions</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dirty="0">
                <a:effectLst/>
                <a:latin typeface="Times New Roman" panose="02020603050405020304" pitchFamily="18" charset="0"/>
                <a:cs typeface="Times New Roman" panose="02020603050405020304" pitchFamily="18" charset="0"/>
              </a:rPr>
              <a:t>	Critical operations (like duty assignment) use transactions to ensure data consistency and 	prevent partial updates.</a:t>
            </a:r>
            <a:endParaRPr lang="en-US" dirty="0">
              <a:effectLst/>
              <a:latin typeface="Times New Roman" panose="02020603050405020304" pitchFamily="18" charset="0"/>
              <a:cs typeface="Times New Roman" panose="02020603050405020304" pitchFamily="18" charset="0"/>
            </a:endParaRPr>
          </a:p>
          <a:p>
            <a:pPr algn="just">
              <a:spcBef>
                <a:spcPts val="150"/>
              </a:spcBef>
              <a:spcAft>
                <a:spcPts val="150"/>
              </a:spcAft>
            </a:pPr>
            <a:r>
              <a:rPr lang="en-US" b="1" dirty="0">
                <a:effectLst/>
                <a:latin typeface="Times New Roman" panose="02020603050405020304" pitchFamily="18" charset="0"/>
                <a:cs typeface="Times New Roman" panose="02020603050405020304" pitchFamily="18" charset="0"/>
              </a:rPr>
              <a:t>Responsive UI</a:t>
            </a:r>
            <a:endParaRPr lang="en-US" dirty="0">
              <a:effectLst/>
              <a:latin typeface="Times New Roman" panose="02020603050405020304" pitchFamily="18" charset="0"/>
              <a:cs typeface="Times New Roman" panose="02020603050405020304" pitchFamily="18" charset="0"/>
            </a:endParaRPr>
          </a:p>
          <a:p>
            <a:pPr algn="just">
              <a:buNone/>
            </a:pPr>
            <a:r>
              <a:rPr lang="en-US" dirty="0">
                <a:effectLst/>
                <a:latin typeface="Times New Roman" panose="02020603050405020304" pitchFamily="18" charset="0"/>
                <a:cs typeface="Times New Roman" panose="02020603050405020304" pitchFamily="18" charset="0"/>
              </a:rPr>
              <a:t>The frontend uses React and Tailwind CSS to provide a seamless experience across devices.</a:t>
            </a:r>
            <a:endParaRPr lang="en-IN" dirty="0">
              <a:latin typeface="Times New Roman" panose="02020603050405020304" pitchFamily="18" charset="0"/>
              <a:cs typeface="Times New Roman" panose="02020603050405020304" pitchFamily="18" charset="0"/>
            </a:endParaRPr>
          </a:p>
        </p:txBody>
      </p:sp>
      <p:sp>
        <p:nvSpPr>
          <p:cNvPr id="6"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8840" y="1392764"/>
            <a:ext cx="9390888"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Examination Duty Allotment System simplifies and automates the exam duty assignment process, reducing manual errors and workload. With role-based dashboards, automated notifications, and clear reporting, it ensures transparency, fairness, and efficient management of exams and faculty duties. The system provides a secure, user-friendly solution that meets institutional needs for modern duty management.</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797046" y="559790"/>
            <a:ext cx="6094476" cy="584775"/>
          </a:xfrm>
          <a:prstGeom prst="rect">
            <a:avLst/>
          </a:prstGeom>
          <a:noFill/>
        </p:spPr>
        <p:txBody>
          <a:bodyPr wrap="square">
            <a:spAutoFit/>
          </a:bodyPr>
          <a:lstStyle/>
          <a:p>
            <a:pPr algn="ctr">
              <a:spcBef>
                <a:spcPts val="1350"/>
              </a:spcBef>
              <a:spcAft>
                <a:spcPts val="600"/>
              </a:spcAft>
              <a:buNone/>
            </a:pPr>
            <a:r>
              <a:rPr lang="en-IN" sz="3200" b="1" i="0" dirty="0">
                <a:effectLst/>
                <a:latin typeface="Times New Roman" panose="02020603050405020304" pitchFamily="18" charset="0"/>
                <a:cs typeface="Times New Roman" panose="02020603050405020304" pitchFamily="18" charset="0"/>
              </a:rPr>
              <a:t>Conclusion</a:t>
            </a:r>
            <a:endParaRPr lang="en-IN" sz="3200" b="1" i="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2192000" cy="6858000"/>
          </a:xfrm>
          <a:prstGeom prst="rect">
            <a:avLst/>
          </a:prstGeom>
        </p:spPr>
      </p:pic>
      <p:sp>
        <p:nvSpPr>
          <p:cNvPr id="5"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2192000" cy="6858000"/>
          </a:xfrm>
          <a:prstGeom prst="rect">
            <a:avLst/>
          </a:prstGeom>
        </p:spPr>
      </p:pic>
      <p:sp>
        <p:nvSpPr>
          <p:cNvPr id="4"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2192000" cy="6858000"/>
          </a:xfrm>
          <a:prstGeom prst="rect">
            <a:avLst/>
          </a:prstGeom>
        </p:spPr>
      </p:pic>
      <p:sp>
        <p:nvSpPr>
          <p:cNvPr id="4"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2192000" cy="6858000"/>
          </a:xfrm>
          <a:prstGeom prst="rect">
            <a:avLst/>
          </a:prstGeom>
        </p:spPr>
      </p:pic>
      <p:sp>
        <p:nvSpPr>
          <p:cNvPr id="4"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12192000" cy="6858000"/>
          </a:xfrm>
          <a:prstGeom prst="rect">
            <a:avLst/>
          </a:prstGeom>
        </p:spPr>
      </p:pic>
      <p:sp>
        <p:nvSpPr>
          <p:cNvPr id="4" name="Slide Number Placeholder 2"/>
          <p:cNvSpPr txBox="1"/>
          <p:nvPr/>
        </p:nvSpPr>
        <p:spPr>
          <a:xfrm>
            <a:off x="11801566" y="6415774"/>
            <a:ext cx="1062155" cy="49059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D0AFDD5-844D-364D-8AEC-50CF4D36D55D}" type="slidenum">
              <a:rPr lang="en-US" smtClean="0">
                <a:solidFill>
                  <a:schemeClr val="accent1">
                    <a:lumMod val="75000"/>
                  </a:schemeClr>
                </a:solidFill>
              </a:rPr>
            </a:fld>
            <a:endParaRPr lang="en-US" dirty="0">
              <a:solidFill>
                <a:schemeClr val="accent1">
                  <a:lumMod val="75000"/>
                </a:schemeClr>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6286</Words>
  <Application>WPS Presentation</Application>
  <PresentationFormat>Widescreen</PresentationFormat>
  <Paragraphs>171</Paragraphs>
  <Slides>19</Slides>
  <Notes>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SimSun</vt:lpstr>
      <vt:lpstr>Wingdings</vt:lpstr>
      <vt:lpstr>Arial</vt:lpstr>
      <vt:lpstr>DejaVu Sans</vt:lpstr>
      <vt:lpstr>Times New Roman</vt:lpstr>
      <vt:lpstr>Corbel</vt:lpstr>
      <vt:lpstr>Montserrat Thin</vt:lpstr>
      <vt:lpstr>Microsoft YaHei</vt:lpstr>
      <vt:lpstr>Droid Sans Fallback</vt:lpstr>
      <vt:lpstr>Arial Unicode MS</vt:lpstr>
      <vt:lpstr>Calibri</vt:lpstr>
      <vt:lpstr>FontAwesome</vt:lpstr>
      <vt:lpstr>Parallax</vt:lpstr>
      <vt:lpstr>PROJECT PRESENTATION on Examination Duty Allotment and Management System</vt:lpstr>
      <vt:lpstr>Company Profile</vt:lpstr>
      <vt:lpstr>PowerPoint 演示文稿</vt:lpstr>
      <vt:lpstr>Introduction to SRS &amp; Project Scope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Sharath Naik</dc:creator>
  <cp:lastModifiedBy>praneethkumar</cp:lastModifiedBy>
  <cp:revision>4</cp:revision>
  <dcterms:created xsi:type="dcterms:W3CDTF">2025-07-23T05:16:49Z</dcterms:created>
  <dcterms:modified xsi:type="dcterms:W3CDTF">2025-07-23T05:16:49Z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